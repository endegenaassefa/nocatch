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0972800" cy="6172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Logical query meaning stays the same when a physical plan changes.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key groups records before the second key sorts within each group.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apply these constants to a real device benchmark.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covering index is a physical optimization, not a change to the query result.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quality depends on the distribution, not merely the number of distinct values.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correct index can still participate in a poor plan.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Faster execution cannot repair a logically duplicated join result.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evidence must keep the workload that produced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TextBox 1"/>
          <p:cNvSpPr txBox="1"/>
          <p:nvPr/>
        </p:nvSpPr>
        <p:spPr>
          <a:xfrm>
            <a:off x="502920" y="274320"/>
            <a:ext cx="10058400" cy="365760"/>
          </a:xfrm>
          <a:prstGeom prst="rect">
            <a:avLst/>
          </a:prstGeom>
          <a:noFill/>
        </p:spPr>
        <p:txBody>
          <a:bodyPr wrap="square">
            <a:spAutoFit/>
          </a:bodyPr>
          <a:lstStyle/>
          <a:p>
            <a:pPr>
              <a:spcAft>
                <a:spcPts val="1400"/>
              </a:spcAft>
              <a:defRPr sz="1300" b="1">
                <a:solidFill>
                  <a:srgbClr val="375B81"/>
                </a:solidFill>
              </a:defRPr>
            </a:pPr>
            <a:r>
              <a:t>HARBOR SYSTEMS 241  /  INDEXES: ACCESS PATHS AND COSTS</a:t>
            </a:r>
          </a:p>
        </p:txBody>
      </p:sp>
      <p:sp>
        <p:nvSpPr>
          <p:cNvPr id="3" name="TextBox 2"/>
          <p:cNvSpPr txBox="1"/>
          <p:nvPr/>
        </p:nvSpPr>
        <p:spPr>
          <a:xfrm>
            <a:off x="502920" y="914400"/>
            <a:ext cx="9966960" cy="914400"/>
          </a:xfrm>
          <a:prstGeom prst="rect">
            <a:avLst/>
          </a:prstGeom>
          <a:noFill/>
        </p:spPr>
        <p:txBody>
          <a:bodyPr wrap="square">
            <a:spAutoFit/>
          </a:bodyPr>
          <a:lstStyle/>
          <a:p>
            <a:pPr>
              <a:spcAft>
                <a:spcPts val="1400"/>
              </a:spcAft>
              <a:defRPr sz="3000" b="1">
                <a:solidFill>
                  <a:srgbClr val="192A3E"/>
                </a:solidFill>
              </a:defRPr>
            </a:pPr>
            <a:r>
              <a:t>The archive relation</a:t>
            </a:r>
          </a:p>
        </p:txBody>
      </p:sp>
      <p:sp>
        <p:nvSpPr>
          <p:cNvPr id="4" name="TextBox 3"/>
          <p:cNvSpPr txBox="1"/>
          <p:nvPr/>
        </p:nvSpPr>
        <p:spPr>
          <a:xfrm>
            <a:off x="548640" y="2148840"/>
            <a:ext cx="9738360" cy="3017520"/>
          </a:xfrm>
          <a:prstGeom prst="rect">
            <a:avLst/>
          </a:prstGeom>
          <a:noFill/>
        </p:spPr>
        <p:txBody>
          <a:bodyPr wrap="square">
            <a:spAutoFit/>
          </a:bodyPr>
          <a:lstStyle/>
          <a:p>
            <a:pPr>
              <a:spcAft>
                <a:spcPts val="1400"/>
              </a:spcAft>
              <a:defRPr sz="2400" b="0">
                <a:solidFill>
                  <a:srgbClr val="192A3E"/>
                </a:solidFill>
              </a:defRPr>
            </a:pPr>
            <a:r>
              <a:t>Observations contain buoy, event time, category and value. A query can restrict one or several fields. An index helps only when its ordering supports the relevant lookup or scan.</a:t>
            </a:r>
          </a:p>
        </p:txBody>
      </p:sp>
      <p:sp>
        <p:nvSpPr>
          <p:cNvPr id="5" name="TextBox 4"/>
          <p:cNvSpPr txBox="1"/>
          <p:nvPr/>
        </p:nvSpPr>
        <p:spPr>
          <a:xfrm>
            <a:off x="548640" y="5715000"/>
            <a:ext cx="9875520" cy="228600"/>
          </a:xfrm>
          <a:prstGeom prst="rect">
            <a:avLst/>
          </a:prstGeom>
          <a:noFill/>
        </p:spPr>
        <p:txBody>
          <a:bodyPr wrap="square">
            <a:spAutoFit/>
          </a:bodyPr>
          <a:lstStyle/>
          <a:p>
            <a:pPr>
              <a:spcAft>
                <a:spcPts val="1400"/>
              </a:spcAft>
              <a:defRPr sz="1100" b="0">
                <a:solidFill>
                  <a:srgbClr val="596675"/>
                </a:solidFill>
              </a:defRPr>
            </a:pPr>
            <a:r>
              <a:t>Original synthetic teaching material • Week 8 • Slide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TextBox 1"/>
          <p:cNvSpPr txBox="1"/>
          <p:nvPr/>
        </p:nvSpPr>
        <p:spPr>
          <a:xfrm>
            <a:off x="502920" y="274320"/>
            <a:ext cx="10058400" cy="365760"/>
          </a:xfrm>
          <a:prstGeom prst="rect">
            <a:avLst/>
          </a:prstGeom>
          <a:noFill/>
        </p:spPr>
        <p:txBody>
          <a:bodyPr wrap="square">
            <a:spAutoFit/>
          </a:bodyPr>
          <a:lstStyle/>
          <a:p>
            <a:pPr>
              <a:spcAft>
                <a:spcPts val="1400"/>
              </a:spcAft>
              <a:defRPr sz="1300" b="1">
                <a:solidFill>
                  <a:srgbClr val="375B81"/>
                </a:solidFill>
              </a:defRPr>
            </a:pPr>
            <a:r>
              <a:t>HARBOR SYSTEMS 241  /  INDEXES: ACCESS PATHS AND COSTS</a:t>
            </a:r>
          </a:p>
        </p:txBody>
      </p:sp>
      <p:sp>
        <p:nvSpPr>
          <p:cNvPr id="3" name="TextBox 2"/>
          <p:cNvSpPr txBox="1"/>
          <p:nvPr/>
        </p:nvSpPr>
        <p:spPr>
          <a:xfrm>
            <a:off x="502920" y="914400"/>
            <a:ext cx="9966960" cy="914400"/>
          </a:xfrm>
          <a:prstGeom prst="rect">
            <a:avLst/>
          </a:prstGeom>
          <a:noFill/>
        </p:spPr>
        <p:txBody>
          <a:bodyPr wrap="square">
            <a:spAutoFit/>
          </a:bodyPr>
          <a:lstStyle/>
          <a:p>
            <a:pPr>
              <a:spcAft>
                <a:spcPts val="1400"/>
              </a:spcAft>
              <a:defRPr sz="3000" b="1">
                <a:solidFill>
                  <a:srgbClr val="192A3E"/>
                </a:solidFill>
              </a:defRPr>
            </a:pPr>
            <a:r>
              <a:t>Composite order</a:t>
            </a:r>
          </a:p>
        </p:txBody>
      </p:sp>
      <p:sp>
        <p:nvSpPr>
          <p:cNvPr id="4" name="TextBox 3"/>
          <p:cNvSpPr txBox="1"/>
          <p:nvPr/>
        </p:nvSpPr>
        <p:spPr>
          <a:xfrm>
            <a:off x="548640" y="2148840"/>
            <a:ext cx="9738360" cy="3017520"/>
          </a:xfrm>
          <a:prstGeom prst="rect">
            <a:avLst/>
          </a:prstGeom>
          <a:noFill/>
        </p:spPr>
        <p:txBody>
          <a:bodyPr wrap="square">
            <a:spAutoFit/>
          </a:bodyPr>
          <a:lstStyle/>
          <a:p>
            <a:pPr>
              <a:spcAft>
                <a:spcPts val="1400"/>
              </a:spcAft>
              <a:defRPr sz="2400" b="0">
                <a:solidFill>
                  <a:srgbClr val="192A3E"/>
                </a:solidFill>
              </a:defRPr>
            </a:pPr>
            <a:r>
              <a:t>Harbor's primary query index is ordered by buoy and then event time. It efficiently scans a time interval for one buoy. A time interval across all buoys cannot assume one contiguous range in this index.</a:t>
            </a:r>
          </a:p>
        </p:txBody>
      </p:sp>
      <p:sp>
        <p:nvSpPr>
          <p:cNvPr id="5" name="TextBox 4"/>
          <p:cNvSpPr txBox="1"/>
          <p:nvPr/>
        </p:nvSpPr>
        <p:spPr>
          <a:xfrm>
            <a:off x="548640" y="5715000"/>
            <a:ext cx="9875520" cy="228600"/>
          </a:xfrm>
          <a:prstGeom prst="rect">
            <a:avLst/>
          </a:prstGeom>
          <a:noFill/>
        </p:spPr>
        <p:txBody>
          <a:bodyPr wrap="square">
            <a:spAutoFit/>
          </a:bodyPr>
          <a:lstStyle/>
          <a:p>
            <a:pPr>
              <a:spcAft>
                <a:spcPts val="1400"/>
              </a:spcAft>
              <a:defRPr sz="1100" b="0">
                <a:solidFill>
                  <a:srgbClr val="596675"/>
                </a:solidFill>
              </a:defRPr>
            </a:pPr>
            <a:r>
              <a:t>Original synthetic teaching material • Week 8 • 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TextBox 1"/>
          <p:cNvSpPr txBox="1"/>
          <p:nvPr/>
        </p:nvSpPr>
        <p:spPr>
          <a:xfrm>
            <a:off x="502920" y="274320"/>
            <a:ext cx="10058400" cy="365760"/>
          </a:xfrm>
          <a:prstGeom prst="rect">
            <a:avLst/>
          </a:prstGeom>
          <a:noFill/>
        </p:spPr>
        <p:txBody>
          <a:bodyPr wrap="square">
            <a:spAutoFit/>
          </a:bodyPr>
          <a:lstStyle/>
          <a:p>
            <a:pPr>
              <a:spcAft>
                <a:spcPts val="1400"/>
              </a:spcAft>
              <a:defRPr sz="1300" b="1">
                <a:solidFill>
                  <a:srgbClr val="375B81"/>
                </a:solidFill>
              </a:defRPr>
            </a:pPr>
            <a:r>
              <a:t>HARBOR SYSTEMS 241  /  INDEXES: ACCESS PATHS AND COSTS</a:t>
            </a:r>
          </a:p>
        </p:txBody>
      </p:sp>
      <p:sp>
        <p:nvSpPr>
          <p:cNvPr id="3" name="TextBox 2"/>
          <p:cNvSpPr txBox="1"/>
          <p:nvPr/>
        </p:nvSpPr>
        <p:spPr>
          <a:xfrm>
            <a:off x="502920" y="914400"/>
            <a:ext cx="9966960" cy="914400"/>
          </a:xfrm>
          <a:prstGeom prst="rect">
            <a:avLst/>
          </a:prstGeom>
          <a:noFill/>
        </p:spPr>
        <p:txBody>
          <a:bodyPr wrap="square">
            <a:spAutoFit/>
          </a:bodyPr>
          <a:lstStyle/>
          <a:p>
            <a:pPr>
              <a:spcAft>
                <a:spcPts val="1400"/>
              </a:spcAft>
              <a:defRPr sz="3000" b="1">
                <a:solidFill>
                  <a:srgbClr val="192A3E"/>
                </a:solidFill>
              </a:defRPr>
            </a:pPr>
            <a:r>
              <a:t>A local cost unit</a:t>
            </a:r>
          </a:p>
        </p:txBody>
      </p:sp>
      <p:sp>
        <p:nvSpPr>
          <p:cNvPr id="4" name="TextBox 3"/>
          <p:cNvSpPr txBox="1"/>
          <p:nvPr/>
        </p:nvSpPr>
        <p:spPr>
          <a:xfrm>
            <a:off x="548640" y="2148840"/>
            <a:ext cx="9738360" cy="3017520"/>
          </a:xfrm>
          <a:prstGeom prst="rect">
            <a:avLst/>
          </a:prstGeom>
          <a:noFill/>
        </p:spPr>
        <p:txBody>
          <a:bodyPr wrap="square">
            <a:spAutoFit/>
          </a:bodyPr>
          <a:lstStyle/>
          <a:p>
            <a:pPr>
              <a:spcAft>
                <a:spcPts val="1400"/>
              </a:spcAft>
              <a:defRPr sz="2400" b="0">
                <a:solidFill>
                  <a:srgbClr val="192A3E"/>
                </a:solidFill>
              </a:defRPr>
            </a:pPr>
            <a:r>
              <a:t>The teaching planner assigns one unit to a sequential page read and four units to a random page read. It ignores CPU for the laboratory exercise. These invented units compare plans within this model only.</a:t>
            </a:r>
          </a:p>
        </p:txBody>
      </p:sp>
      <p:sp>
        <p:nvSpPr>
          <p:cNvPr id="5" name="TextBox 4"/>
          <p:cNvSpPr txBox="1"/>
          <p:nvPr/>
        </p:nvSpPr>
        <p:spPr>
          <a:xfrm>
            <a:off x="548640" y="5715000"/>
            <a:ext cx="9875520" cy="228600"/>
          </a:xfrm>
          <a:prstGeom prst="rect">
            <a:avLst/>
          </a:prstGeom>
          <a:noFill/>
        </p:spPr>
        <p:txBody>
          <a:bodyPr wrap="square">
            <a:spAutoFit/>
          </a:bodyPr>
          <a:lstStyle/>
          <a:p>
            <a:pPr>
              <a:spcAft>
                <a:spcPts val="1400"/>
              </a:spcAft>
              <a:defRPr sz="1100" b="0">
                <a:solidFill>
                  <a:srgbClr val="596675"/>
                </a:solidFill>
              </a:defRPr>
            </a:pPr>
            <a:r>
              <a:t>Original synthetic teaching material • Week 8 • Slide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TextBox 1"/>
          <p:cNvSpPr txBox="1"/>
          <p:nvPr/>
        </p:nvSpPr>
        <p:spPr>
          <a:xfrm>
            <a:off x="502920" y="274320"/>
            <a:ext cx="10058400" cy="365760"/>
          </a:xfrm>
          <a:prstGeom prst="rect">
            <a:avLst/>
          </a:prstGeom>
          <a:noFill/>
        </p:spPr>
        <p:txBody>
          <a:bodyPr wrap="square">
            <a:spAutoFit/>
          </a:bodyPr>
          <a:lstStyle/>
          <a:p>
            <a:pPr>
              <a:spcAft>
                <a:spcPts val="1400"/>
              </a:spcAft>
              <a:defRPr sz="1300" b="1">
                <a:solidFill>
                  <a:srgbClr val="375B81"/>
                </a:solidFill>
              </a:defRPr>
            </a:pPr>
            <a:r>
              <a:t>HARBOR SYSTEMS 241  /  INDEXES: ACCESS PATHS AND COSTS</a:t>
            </a:r>
          </a:p>
        </p:txBody>
      </p:sp>
      <p:sp>
        <p:nvSpPr>
          <p:cNvPr id="3" name="TextBox 2"/>
          <p:cNvSpPr txBox="1"/>
          <p:nvPr/>
        </p:nvSpPr>
        <p:spPr>
          <a:xfrm>
            <a:off x="502920" y="914400"/>
            <a:ext cx="9966960" cy="914400"/>
          </a:xfrm>
          <a:prstGeom prst="rect">
            <a:avLst/>
          </a:prstGeom>
          <a:noFill/>
        </p:spPr>
        <p:txBody>
          <a:bodyPr wrap="square">
            <a:spAutoFit/>
          </a:bodyPr>
          <a:lstStyle/>
          <a:p>
            <a:pPr>
              <a:spcAft>
                <a:spcPts val="1400"/>
              </a:spcAft>
              <a:defRPr sz="3000" b="1">
                <a:solidFill>
                  <a:srgbClr val="192A3E"/>
                </a:solidFill>
              </a:defRPr>
            </a:pPr>
            <a:r>
              <a:t>Covering a report</a:t>
            </a:r>
          </a:p>
        </p:txBody>
      </p:sp>
      <p:sp>
        <p:nvSpPr>
          <p:cNvPr id="4" name="TextBox 3"/>
          <p:cNvSpPr txBox="1"/>
          <p:nvPr/>
        </p:nvSpPr>
        <p:spPr>
          <a:xfrm>
            <a:off x="548640" y="2148840"/>
            <a:ext cx="9738360" cy="3017520"/>
          </a:xfrm>
          <a:prstGeom prst="rect">
            <a:avLst/>
          </a:prstGeom>
          <a:noFill/>
        </p:spPr>
        <p:txBody>
          <a:bodyPr wrap="square">
            <a:spAutoFit/>
          </a:bodyPr>
          <a:lstStyle/>
          <a:p>
            <a:pPr>
              <a:spcAft>
                <a:spcPts val="1400"/>
              </a:spcAft>
              <a:defRPr sz="2400" b="0">
                <a:solidFill>
                  <a:srgbClr val="192A3E"/>
                </a:solidFill>
              </a:defRPr>
            </a:pPr>
            <a:r>
              <a:t>An index that includes every projected field can avoid fetching the base record. It costs more storage and write maintenance. Adding an included column should follow an observed query need.</a:t>
            </a:r>
          </a:p>
        </p:txBody>
      </p:sp>
      <p:sp>
        <p:nvSpPr>
          <p:cNvPr id="5" name="TextBox 4"/>
          <p:cNvSpPr txBox="1"/>
          <p:nvPr/>
        </p:nvSpPr>
        <p:spPr>
          <a:xfrm>
            <a:off x="548640" y="5715000"/>
            <a:ext cx="9875520" cy="228600"/>
          </a:xfrm>
          <a:prstGeom prst="rect">
            <a:avLst/>
          </a:prstGeom>
          <a:noFill/>
        </p:spPr>
        <p:txBody>
          <a:bodyPr wrap="square">
            <a:spAutoFit/>
          </a:bodyPr>
          <a:lstStyle/>
          <a:p>
            <a:pPr>
              <a:spcAft>
                <a:spcPts val="1400"/>
              </a:spcAft>
              <a:defRPr sz="1100" b="0">
                <a:solidFill>
                  <a:srgbClr val="596675"/>
                </a:solidFill>
              </a:defRPr>
            </a:pPr>
            <a:r>
              <a:t>Original synthetic teaching material • Week 8 • Slide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TextBox 1"/>
          <p:cNvSpPr txBox="1"/>
          <p:nvPr/>
        </p:nvSpPr>
        <p:spPr>
          <a:xfrm>
            <a:off x="502920" y="274320"/>
            <a:ext cx="10058400" cy="365760"/>
          </a:xfrm>
          <a:prstGeom prst="rect">
            <a:avLst/>
          </a:prstGeom>
          <a:noFill/>
        </p:spPr>
        <p:txBody>
          <a:bodyPr wrap="square">
            <a:spAutoFit/>
          </a:bodyPr>
          <a:lstStyle/>
          <a:p>
            <a:pPr>
              <a:spcAft>
                <a:spcPts val="1400"/>
              </a:spcAft>
              <a:defRPr sz="1300" b="1">
                <a:solidFill>
                  <a:srgbClr val="375B81"/>
                </a:solidFill>
              </a:defRPr>
            </a:pPr>
            <a:r>
              <a:t>HARBOR SYSTEMS 241  /  INDEXES: ACCESS PATHS AND COSTS</a:t>
            </a:r>
          </a:p>
        </p:txBody>
      </p:sp>
      <p:sp>
        <p:nvSpPr>
          <p:cNvPr id="3" name="TextBox 2"/>
          <p:cNvSpPr txBox="1"/>
          <p:nvPr/>
        </p:nvSpPr>
        <p:spPr>
          <a:xfrm>
            <a:off x="502920" y="914400"/>
            <a:ext cx="9966960" cy="914400"/>
          </a:xfrm>
          <a:prstGeom prst="rect">
            <a:avLst/>
          </a:prstGeom>
          <a:noFill/>
        </p:spPr>
        <p:txBody>
          <a:bodyPr wrap="square">
            <a:spAutoFit/>
          </a:bodyPr>
          <a:lstStyle/>
          <a:p>
            <a:pPr>
              <a:spcAft>
                <a:spcPts val="1400"/>
              </a:spcAft>
              <a:defRPr sz="3000" b="1">
                <a:solidFill>
                  <a:srgbClr val="192A3E"/>
                </a:solidFill>
              </a:defRPr>
            </a:pPr>
            <a:r>
              <a:t>Selectivity and skew</a:t>
            </a:r>
          </a:p>
        </p:txBody>
      </p:sp>
      <p:sp>
        <p:nvSpPr>
          <p:cNvPr id="4" name="TextBox 3"/>
          <p:cNvSpPr txBox="1"/>
          <p:nvPr/>
        </p:nvSpPr>
        <p:spPr>
          <a:xfrm>
            <a:off x="548640" y="2148840"/>
            <a:ext cx="9738360" cy="3017520"/>
          </a:xfrm>
          <a:prstGeom prst="rect">
            <a:avLst/>
          </a:prstGeom>
          <a:noFill/>
        </p:spPr>
        <p:txBody>
          <a:bodyPr wrap="square">
            <a:spAutoFit/>
          </a:bodyPr>
          <a:lstStyle/>
          <a:p>
            <a:pPr>
              <a:spcAft>
                <a:spcPts val="1400"/>
              </a:spcAft>
              <a:defRPr sz="2400" b="0">
                <a:solidFill>
                  <a:srgbClr val="192A3E"/>
                </a:solidFill>
              </a:defRPr>
            </a:pPr>
            <a:r>
              <a:t>A rare category can benefit from an index lookup while a common category may favor a scan. A single average frequency hides skew. Harbor keeps category frequencies in its teaching statistics.</a:t>
            </a:r>
          </a:p>
        </p:txBody>
      </p:sp>
      <p:sp>
        <p:nvSpPr>
          <p:cNvPr id="5" name="TextBox 4"/>
          <p:cNvSpPr txBox="1"/>
          <p:nvPr/>
        </p:nvSpPr>
        <p:spPr>
          <a:xfrm>
            <a:off x="548640" y="5715000"/>
            <a:ext cx="9875520" cy="228600"/>
          </a:xfrm>
          <a:prstGeom prst="rect">
            <a:avLst/>
          </a:prstGeom>
          <a:noFill/>
        </p:spPr>
        <p:txBody>
          <a:bodyPr wrap="square">
            <a:spAutoFit/>
          </a:bodyPr>
          <a:lstStyle/>
          <a:p>
            <a:pPr>
              <a:spcAft>
                <a:spcPts val="1400"/>
              </a:spcAft>
              <a:defRPr sz="1100" b="0">
                <a:solidFill>
                  <a:srgbClr val="596675"/>
                </a:solidFill>
              </a:defRPr>
            </a:pPr>
            <a:r>
              <a:t>Original synthetic teaching material • Week 8 • Slide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TextBox 1"/>
          <p:cNvSpPr txBox="1"/>
          <p:nvPr/>
        </p:nvSpPr>
        <p:spPr>
          <a:xfrm>
            <a:off x="502920" y="274320"/>
            <a:ext cx="10058400" cy="365760"/>
          </a:xfrm>
          <a:prstGeom prst="rect">
            <a:avLst/>
          </a:prstGeom>
          <a:noFill/>
        </p:spPr>
        <p:txBody>
          <a:bodyPr wrap="square">
            <a:spAutoFit/>
          </a:bodyPr>
          <a:lstStyle/>
          <a:p>
            <a:pPr>
              <a:spcAft>
                <a:spcPts val="1400"/>
              </a:spcAft>
              <a:defRPr sz="1300" b="1">
                <a:solidFill>
                  <a:srgbClr val="375B81"/>
                </a:solidFill>
              </a:defRPr>
            </a:pPr>
            <a:r>
              <a:t>HARBOR SYSTEMS 241  /  INDEXES: ACCESS PATHS AND COSTS</a:t>
            </a:r>
          </a:p>
        </p:txBody>
      </p:sp>
      <p:sp>
        <p:nvSpPr>
          <p:cNvPr id="3" name="TextBox 2"/>
          <p:cNvSpPr txBox="1"/>
          <p:nvPr/>
        </p:nvSpPr>
        <p:spPr>
          <a:xfrm>
            <a:off x="502920" y="914400"/>
            <a:ext cx="9966960" cy="914400"/>
          </a:xfrm>
          <a:prstGeom prst="rect">
            <a:avLst/>
          </a:prstGeom>
          <a:noFill/>
        </p:spPr>
        <p:txBody>
          <a:bodyPr wrap="square">
            <a:spAutoFit/>
          </a:bodyPr>
          <a:lstStyle/>
          <a:p>
            <a:pPr>
              <a:spcAft>
                <a:spcPts val="1400"/>
              </a:spcAft>
              <a:defRPr sz="3000" b="1">
                <a:solidFill>
                  <a:srgbClr val="192A3E"/>
                </a:solidFill>
              </a:defRPr>
            </a:pPr>
            <a:r>
              <a:t>Stale statistics</a:t>
            </a:r>
          </a:p>
        </p:txBody>
      </p:sp>
      <p:sp>
        <p:nvSpPr>
          <p:cNvPr id="4" name="TextBox 3"/>
          <p:cNvSpPr txBox="1"/>
          <p:nvPr/>
        </p:nvSpPr>
        <p:spPr>
          <a:xfrm>
            <a:off x="548640" y="2148840"/>
            <a:ext cx="9738360" cy="3017520"/>
          </a:xfrm>
          <a:prstGeom prst="rect">
            <a:avLst/>
          </a:prstGeom>
          <a:noFill/>
        </p:spPr>
        <p:txBody>
          <a:bodyPr wrap="square">
            <a:spAutoFit/>
          </a:bodyPr>
          <a:lstStyle/>
          <a:p>
            <a:pPr>
              <a:spcAft>
                <a:spcPts val="1400"/>
              </a:spcAft>
              <a:defRPr sz="2400" b="0">
                <a:solidFill>
                  <a:srgbClr val="192A3E"/>
                </a:solidFill>
              </a:defRPr>
            </a:pPr>
            <a:r>
              <a:t>Bulk loading can make old statistics misleading. Refresh statistics before blaming an index implementation. Compare estimated and observed row counts at each operator to locate the mistaken assumption.</a:t>
            </a:r>
          </a:p>
        </p:txBody>
      </p:sp>
      <p:sp>
        <p:nvSpPr>
          <p:cNvPr id="5" name="TextBox 4"/>
          <p:cNvSpPr txBox="1"/>
          <p:nvPr/>
        </p:nvSpPr>
        <p:spPr>
          <a:xfrm>
            <a:off x="548640" y="5715000"/>
            <a:ext cx="9875520" cy="228600"/>
          </a:xfrm>
          <a:prstGeom prst="rect">
            <a:avLst/>
          </a:prstGeom>
          <a:noFill/>
        </p:spPr>
        <p:txBody>
          <a:bodyPr wrap="square">
            <a:spAutoFit/>
          </a:bodyPr>
          <a:lstStyle/>
          <a:p>
            <a:pPr>
              <a:spcAft>
                <a:spcPts val="1400"/>
              </a:spcAft>
              <a:defRPr sz="1100" b="0">
                <a:solidFill>
                  <a:srgbClr val="596675"/>
                </a:solidFill>
              </a:defRPr>
            </a:pPr>
            <a:r>
              <a:t>Original synthetic teaching material • Week 8 • Slide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TextBox 1"/>
          <p:cNvSpPr txBox="1"/>
          <p:nvPr/>
        </p:nvSpPr>
        <p:spPr>
          <a:xfrm>
            <a:off x="502920" y="274320"/>
            <a:ext cx="10058400" cy="365760"/>
          </a:xfrm>
          <a:prstGeom prst="rect">
            <a:avLst/>
          </a:prstGeom>
          <a:noFill/>
        </p:spPr>
        <p:txBody>
          <a:bodyPr wrap="square">
            <a:spAutoFit/>
          </a:bodyPr>
          <a:lstStyle/>
          <a:p>
            <a:pPr>
              <a:spcAft>
                <a:spcPts val="1400"/>
              </a:spcAft>
              <a:defRPr sz="1300" b="1">
                <a:solidFill>
                  <a:srgbClr val="375B81"/>
                </a:solidFill>
              </a:defRPr>
            </a:pPr>
            <a:r>
              <a:t>HARBOR SYSTEMS 241  /  INDEXES: ACCESS PATHS AND COSTS</a:t>
            </a:r>
          </a:p>
        </p:txBody>
      </p:sp>
      <p:sp>
        <p:nvSpPr>
          <p:cNvPr id="3" name="TextBox 2"/>
          <p:cNvSpPr txBox="1"/>
          <p:nvPr/>
        </p:nvSpPr>
        <p:spPr>
          <a:xfrm>
            <a:off x="502920" y="914400"/>
            <a:ext cx="9966960" cy="914400"/>
          </a:xfrm>
          <a:prstGeom prst="rect">
            <a:avLst/>
          </a:prstGeom>
          <a:noFill/>
        </p:spPr>
        <p:txBody>
          <a:bodyPr wrap="square">
            <a:spAutoFit/>
          </a:bodyPr>
          <a:lstStyle/>
          <a:p>
            <a:pPr>
              <a:spcAft>
                <a:spcPts val="1400"/>
              </a:spcAft>
              <a:defRPr sz="3000" b="1">
                <a:solidFill>
                  <a:srgbClr val="192A3E"/>
                </a:solidFill>
              </a:defRPr>
            </a:pPr>
            <a:r>
              <a:t>Join ownership</a:t>
            </a:r>
          </a:p>
        </p:txBody>
      </p:sp>
      <p:sp>
        <p:nvSpPr>
          <p:cNvPr id="4" name="TextBox 3"/>
          <p:cNvSpPr txBox="1"/>
          <p:nvPr/>
        </p:nvSpPr>
        <p:spPr>
          <a:xfrm>
            <a:off x="548640" y="2148840"/>
            <a:ext cx="9738360" cy="3017520"/>
          </a:xfrm>
          <a:prstGeom prst="rect">
            <a:avLst/>
          </a:prstGeom>
          <a:noFill/>
        </p:spPr>
        <p:txBody>
          <a:bodyPr wrap="square">
            <a:spAutoFit/>
          </a:bodyPr>
          <a:lstStyle/>
          <a:p>
            <a:pPr>
              <a:spcAft>
                <a:spcPts val="1400"/>
              </a:spcAft>
              <a:defRPr sz="2400" b="0">
                <a:solidFill>
                  <a:srgbClr val="192A3E"/>
                </a:solidFill>
              </a:defRPr>
            </a:pPr>
            <a:r>
              <a:t>A report joins observations to the buoy catalog using buoy identifier. If the catalog contains multiple active rows per buoy, the join multiplies observations. The catalog uniqueness rule is therefore part of report correctness.</a:t>
            </a:r>
          </a:p>
        </p:txBody>
      </p:sp>
      <p:sp>
        <p:nvSpPr>
          <p:cNvPr id="5" name="TextBox 4"/>
          <p:cNvSpPr txBox="1"/>
          <p:nvPr/>
        </p:nvSpPr>
        <p:spPr>
          <a:xfrm>
            <a:off x="548640" y="5715000"/>
            <a:ext cx="9875520" cy="228600"/>
          </a:xfrm>
          <a:prstGeom prst="rect">
            <a:avLst/>
          </a:prstGeom>
          <a:noFill/>
        </p:spPr>
        <p:txBody>
          <a:bodyPr wrap="square">
            <a:spAutoFit/>
          </a:bodyPr>
          <a:lstStyle/>
          <a:p>
            <a:pPr>
              <a:spcAft>
                <a:spcPts val="1400"/>
              </a:spcAft>
              <a:defRPr sz="1100" b="0">
                <a:solidFill>
                  <a:srgbClr val="596675"/>
                </a:solidFill>
              </a:defRPr>
            </a:pPr>
            <a:r>
              <a:t>Original synthetic teaching material • Week 8 • Slide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TextBox 1"/>
          <p:cNvSpPr txBox="1"/>
          <p:nvPr/>
        </p:nvSpPr>
        <p:spPr>
          <a:xfrm>
            <a:off x="502920" y="274320"/>
            <a:ext cx="10058400" cy="365760"/>
          </a:xfrm>
          <a:prstGeom prst="rect">
            <a:avLst/>
          </a:prstGeom>
          <a:noFill/>
        </p:spPr>
        <p:txBody>
          <a:bodyPr wrap="square">
            <a:spAutoFit/>
          </a:bodyPr>
          <a:lstStyle/>
          <a:p>
            <a:pPr>
              <a:spcAft>
                <a:spcPts val="1400"/>
              </a:spcAft>
              <a:defRPr sz="1300" b="1">
                <a:solidFill>
                  <a:srgbClr val="375B81"/>
                </a:solidFill>
              </a:defRPr>
            </a:pPr>
            <a:r>
              <a:t>HARBOR SYSTEMS 241  /  INDEXES: ACCESS PATHS AND COSTS</a:t>
            </a:r>
          </a:p>
        </p:txBody>
      </p:sp>
      <p:sp>
        <p:nvSpPr>
          <p:cNvPr id="3" name="TextBox 2"/>
          <p:cNvSpPr txBox="1"/>
          <p:nvPr/>
        </p:nvSpPr>
        <p:spPr>
          <a:xfrm>
            <a:off x="502920" y="914400"/>
            <a:ext cx="9966960" cy="914400"/>
          </a:xfrm>
          <a:prstGeom prst="rect">
            <a:avLst/>
          </a:prstGeom>
          <a:noFill/>
        </p:spPr>
        <p:txBody>
          <a:bodyPr wrap="square">
            <a:spAutoFit/>
          </a:bodyPr>
          <a:lstStyle/>
          <a:p>
            <a:pPr>
              <a:spcAft>
                <a:spcPts val="1400"/>
              </a:spcAft>
              <a:defRPr sz="3000" b="1">
                <a:solidFill>
                  <a:srgbClr val="192A3E"/>
                </a:solidFill>
              </a:defRPr>
            </a:pPr>
            <a:r>
              <a:t>Explain with a boundary</a:t>
            </a:r>
          </a:p>
        </p:txBody>
      </p:sp>
      <p:sp>
        <p:nvSpPr>
          <p:cNvPr id="4" name="TextBox 3"/>
          <p:cNvSpPr txBox="1"/>
          <p:nvPr/>
        </p:nvSpPr>
        <p:spPr>
          <a:xfrm>
            <a:off x="548640" y="2148840"/>
            <a:ext cx="9738360" cy="3017520"/>
          </a:xfrm>
          <a:prstGeom prst="rect">
            <a:avLst/>
          </a:prstGeom>
          <a:noFill/>
        </p:spPr>
        <p:txBody>
          <a:bodyPr wrap="square">
            <a:spAutoFit/>
          </a:bodyPr>
          <a:lstStyle/>
          <a:p>
            <a:pPr>
              <a:spcAft>
                <a:spcPts val="1400"/>
              </a:spcAft>
              <a:defRPr sz="2400" b="0">
                <a:solidFill>
                  <a:srgbClr val="192A3E"/>
                </a:solidFill>
              </a:defRPr>
            </a:pPr>
            <a:r>
              <a:t>State which query, data distribution and cost model support a plan choice. A plan that wins for one buoy may lose for the whole fleet. Preserve those assumptions when summarizing a benchmark.</a:t>
            </a:r>
          </a:p>
        </p:txBody>
      </p:sp>
      <p:sp>
        <p:nvSpPr>
          <p:cNvPr id="5" name="TextBox 4"/>
          <p:cNvSpPr txBox="1"/>
          <p:nvPr/>
        </p:nvSpPr>
        <p:spPr>
          <a:xfrm>
            <a:off x="548640" y="5715000"/>
            <a:ext cx="9875520" cy="228600"/>
          </a:xfrm>
          <a:prstGeom prst="rect">
            <a:avLst/>
          </a:prstGeom>
          <a:noFill/>
        </p:spPr>
        <p:txBody>
          <a:bodyPr wrap="square">
            <a:spAutoFit/>
          </a:bodyPr>
          <a:lstStyle/>
          <a:p>
            <a:pPr>
              <a:spcAft>
                <a:spcPts val="1400"/>
              </a:spcAft>
              <a:defRPr sz="1100" b="0">
                <a:solidFill>
                  <a:srgbClr val="596675"/>
                </a:solidFill>
              </a:defRPr>
            </a:pPr>
            <a:r>
              <a:t>Original synthetic teaching material • Week 8 • Slide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Indexes: access paths and costs</dc:title>
  <dc:subject>Original fictional CS course: Harbor Systems 241</dc:subject>
  <dc:creator>Independent synthetic course QA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