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0972800" cy="6172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Authentication identifies a caller; a lease supplies a narrower, temporary authority.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paused old writer cannot regain authority by resuming its process.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seconds is a lead time, not an extra grace period after expiry.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Lantern leases allow exactly one renewal, and that renewal lasts eleven seconds. A second renewal must be rejected even if the holder has not changed.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Cancellation cannot retroactively erase a successful durable commit.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safety margin does not replace generation checks at the storage boundary.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gives a concrete reason for checking authority where effects become durable.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Explanations that merely say permission denied discard useful operational evidence.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TextBox 1"/>
          <p:cNvSpPr txBox="1"/>
          <p:nvPr/>
        </p:nvSpPr>
        <p:spPr>
          <a:xfrm>
            <a:off x="502920" y="274320"/>
            <a:ext cx="10058400" cy="365760"/>
          </a:xfrm>
          <a:prstGeom prst="rect">
            <a:avLst/>
          </a:prstGeom>
          <a:noFill/>
        </p:spPr>
        <p:txBody>
          <a:bodyPr wrap="square">
            <a:spAutoFit/>
          </a:bodyPr>
          <a:lstStyle/>
          <a:p>
            <a:pPr>
              <a:spcAft>
                <a:spcPts val="1400"/>
              </a:spcAft>
              <a:defRPr sz="1300" b="1">
                <a:solidFill>
                  <a:srgbClr val="375B81"/>
                </a:solidFill>
              </a:defRPr>
            </a:pPr>
            <a:r>
              <a:t>HARBOR SYSTEMS 241  /  LEASES: REVOCABLE AUTHORITY</a:t>
            </a:r>
          </a:p>
        </p:txBody>
      </p:sp>
      <p:sp>
        <p:nvSpPr>
          <p:cNvPr id="3" name="TextBox 2"/>
          <p:cNvSpPr txBox="1"/>
          <p:nvPr/>
        </p:nvSpPr>
        <p:spPr>
          <a:xfrm>
            <a:off x="502920" y="914400"/>
            <a:ext cx="9966960" cy="914400"/>
          </a:xfrm>
          <a:prstGeom prst="rect">
            <a:avLst/>
          </a:prstGeom>
          <a:noFill/>
        </p:spPr>
        <p:txBody>
          <a:bodyPr wrap="square">
            <a:spAutoFit/>
          </a:bodyPr>
          <a:lstStyle/>
          <a:p>
            <a:pPr>
              <a:spcAft>
                <a:spcPts val="1400"/>
              </a:spcAft>
              <a:defRPr sz="3000" b="1">
                <a:solidFill>
                  <a:srgbClr val="192A3E"/>
                </a:solidFill>
              </a:defRPr>
            </a:pPr>
            <a:r>
              <a:t>A bounded write right</a:t>
            </a:r>
          </a:p>
        </p:txBody>
      </p:sp>
      <p:sp>
        <p:nvSpPr>
          <p:cNvPr id="4" name="TextBox 3"/>
          <p:cNvSpPr txBox="1"/>
          <p:nvPr/>
        </p:nvSpPr>
        <p:spPr>
          <a:xfrm>
            <a:off x="548640" y="2148840"/>
            <a:ext cx="9738360" cy="3017520"/>
          </a:xfrm>
          <a:prstGeom prst="rect">
            <a:avLst/>
          </a:prstGeom>
          <a:noFill/>
        </p:spPr>
        <p:txBody>
          <a:bodyPr wrap="square">
            <a:spAutoFit/>
          </a:bodyPr>
          <a:lstStyle/>
          <a:p>
            <a:pPr>
              <a:spcAft>
                <a:spcPts val="1400"/>
              </a:spcAft>
              <a:defRPr sz="2400" b="0">
                <a:solidFill>
                  <a:srgbClr val="192A3E"/>
                </a:solidFill>
              </a:defRPr>
            </a:pPr>
            <a:r>
              <a:t>A lease grants a gateway the right to write one partition for a bounded period. It includes partition, holder, generation and expiry. Possessing yesterday's lease does not confer authority today.</a:t>
            </a:r>
          </a:p>
        </p:txBody>
      </p:sp>
      <p:sp>
        <p:nvSpPr>
          <p:cNvPr id="5" name="TextBox 4"/>
          <p:cNvSpPr txBox="1"/>
          <p:nvPr/>
        </p:nvSpPr>
        <p:spPr>
          <a:xfrm>
            <a:off x="548640" y="5715000"/>
            <a:ext cx="9875520" cy="228600"/>
          </a:xfrm>
          <a:prstGeom prst="rect">
            <a:avLst/>
          </a:prstGeom>
          <a:noFill/>
        </p:spPr>
        <p:txBody>
          <a:bodyPr wrap="square">
            <a:spAutoFit/>
          </a:bodyPr>
          <a:lstStyle/>
          <a:p>
            <a:pPr>
              <a:spcAft>
                <a:spcPts val="1400"/>
              </a:spcAft>
              <a:defRPr sz="1100" b="0">
                <a:solidFill>
                  <a:srgbClr val="596675"/>
                </a:solidFill>
              </a:defRPr>
            </a:pPr>
            <a:r>
              <a:t>Original synthetic teaching material • Week 4 • Slide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TextBox 1"/>
          <p:cNvSpPr txBox="1"/>
          <p:nvPr/>
        </p:nvSpPr>
        <p:spPr>
          <a:xfrm>
            <a:off x="502920" y="274320"/>
            <a:ext cx="10058400" cy="365760"/>
          </a:xfrm>
          <a:prstGeom prst="rect">
            <a:avLst/>
          </a:prstGeom>
          <a:noFill/>
        </p:spPr>
        <p:txBody>
          <a:bodyPr wrap="square">
            <a:spAutoFit/>
          </a:bodyPr>
          <a:lstStyle/>
          <a:p>
            <a:pPr>
              <a:spcAft>
                <a:spcPts val="1400"/>
              </a:spcAft>
              <a:defRPr sz="1300" b="1">
                <a:solidFill>
                  <a:srgbClr val="375B81"/>
                </a:solidFill>
              </a:defRPr>
            </a:pPr>
            <a:r>
              <a:t>HARBOR SYSTEMS 241  /  LEASES: REVOCABLE AUTHORITY</a:t>
            </a:r>
          </a:p>
        </p:txBody>
      </p:sp>
      <p:sp>
        <p:nvSpPr>
          <p:cNvPr id="3" name="TextBox 2"/>
          <p:cNvSpPr txBox="1"/>
          <p:nvPr/>
        </p:nvSpPr>
        <p:spPr>
          <a:xfrm>
            <a:off x="502920" y="914400"/>
            <a:ext cx="9966960" cy="914400"/>
          </a:xfrm>
          <a:prstGeom prst="rect">
            <a:avLst/>
          </a:prstGeom>
          <a:noFill/>
        </p:spPr>
        <p:txBody>
          <a:bodyPr wrap="square">
            <a:spAutoFit/>
          </a:bodyPr>
          <a:lstStyle/>
          <a:p>
            <a:pPr>
              <a:spcAft>
                <a:spcPts val="1400"/>
              </a:spcAft>
              <a:defRPr sz="3000" b="1">
                <a:solidFill>
                  <a:srgbClr val="192A3E"/>
                </a:solidFill>
              </a:defRPr>
            </a:pPr>
            <a:r>
              <a:t>Fencing generations</a:t>
            </a:r>
          </a:p>
        </p:txBody>
      </p:sp>
      <p:sp>
        <p:nvSpPr>
          <p:cNvPr id="4" name="TextBox 3"/>
          <p:cNvSpPr txBox="1"/>
          <p:nvPr/>
        </p:nvSpPr>
        <p:spPr>
          <a:xfrm>
            <a:off x="548640" y="2148840"/>
            <a:ext cx="9738360" cy="3017520"/>
          </a:xfrm>
          <a:prstGeom prst="rect">
            <a:avLst/>
          </a:prstGeom>
          <a:noFill/>
        </p:spPr>
        <p:txBody>
          <a:bodyPr wrap="square">
            <a:spAutoFit/>
          </a:bodyPr>
          <a:lstStyle/>
          <a:p>
            <a:pPr>
              <a:spcAft>
                <a:spcPts val="1400"/>
              </a:spcAft>
              <a:defRPr sz="2400" b="0">
                <a:solidFill>
                  <a:srgbClr val="192A3E"/>
                </a:solidFill>
              </a:defRPr>
            </a:pPr>
            <a:r>
              <a:t>The archive remembers the highest accepted lease generation for each partition. A write with a lower generation is rejected even if its sender still believes its local lease is valid.</a:t>
            </a:r>
          </a:p>
        </p:txBody>
      </p:sp>
      <p:sp>
        <p:nvSpPr>
          <p:cNvPr id="5" name="TextBox 4"/>
          <p:cNvSpPr txBox="1"/>
          <p:nvPr/>
        </p:nvSpPr>
        <p:spPr>
          <a:xfrm>
            <a:off x="548640" y="5715000"/>
            <a:ext cx="9875520" cy="228600"/>
          </a:xfrm>
          <a:prstGeom prst="rect">
            <a:avLst/>
          </a:prstGeom>
          <a:noFill/>
        </p:spPr>
        <p:txBody>
          <a:bodyPr wrap="square">
            <a:spAutoFit/>
          </a:bodyPr>
          <a:lstStyle/>
          <a:p>
            <a:pPr>
              <a:spcAft>
                <a:spcPts val="1400"/>
              </a:spcAft>
              <a:defRPr sz="1100" b="0">
                <a:solidFill>
                  <a:srgbClr val="596675"/>
                </a:solidFill>
              </a:defRPr>
            </a:pPr>
            <a:r>
              <a:t>Original synthetic teaching material • Week 4 • Slide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TextBox 1"/>
          <p:cNvSpPr txBox="1"/>
          <p:nvPr/>
        </p:nvSpPr>
        <p:spPr>
          <a:xfrm>
            <a:off x="502920" y="274320"/>
            <a:ext cx="10058400" cy="365760"/>
          </a:xfrm>
          <a:prstGeom prst="rect">
            <a:avLst/>
          </a:prstGeom>
          <a:noFill/>
        </p:spPr>
        <p:txBody>
          <a:bodyPr wrap="square">
            <a:spAutoFit/>
          </a:bodyPr>
          <a:lstStyle/>
          <a:p>
            <a:pPr>
              <a:spcAft>
                <a:spcPts val="1400"/>
              </a:spcAft>
              <a:defRPr sz="1300" b="1">
                <a:solidFill>
                  <a:srgbClr val="375B81"/>
                </a:solidFill>
              </a:defRPr>
            </a:pPr>
            <a:r>
              <a:t>HARBOR SYSTEMS 241  /  LEASES: REVOCABLE AUTHORITY</a:t>
            </a:r>
          </a:p>
        </p:txBody>
      </p:sp>
      <p:sp>
        <p:nvSpPr>
          <p:cNvPr id="3" name="TextBox 2"/>
          <p:cNvSpPr txBox="1"/>
          <p:nvPr/>
        </p:nvSpPr>
        <p:spPr>
          <a:xfrm>
            <a:off x="502920" y="914400"/>
            <a:ext cx="9966960" cy="914400"/>
          </a:xfrm>
          <a:prstGeom prst="rect">
            <a:avLst/>
          </a:prstGeom>
          <a:noFill/>
        </p:spPr>
        <p:txBody>
          <a:bodyPr wrap="square">
            <a:spAutoFit/>
          </a:bodyPr>
          <a:lstStyle/>
          <a:p>
            <a:pPr>
              <a:spcAft>
                <a:spcPts val="1400"/>
              </a:spcAft>
              <a:defRPr sz="3000" b="1">
                <a:solidFill>
                  <a:srgbClr val="192A3E"/>
                </a:solidFill>
              </a:defRPr>
            </a:pPr>
            <a:r>
              <a:t>The renewal window</a:t>
            </a:r>
          </a:p>
        </p:txBody>
      </p:sp>
      <p:sp>
        <p:nvSpPr>
          <p:cNvPr id="4" name="TextBox 3"/>
          <p:cNvSpPr txBox="1"/>
          <p:nvPr/>
        </p:nvSpPr>
        <p:spPr>
          <a:xfrm>
            <a:off x="548640" y="2148840"/>
            <a:ext cx="9738360" cy="3017520"/>
          </a:xfrm>
          <a:prstGeom prst="rect">
            <a:avLst/>
          </a:prstGeom>
          <a:noFill/>
        </p:spPr>
        <p:txBody>
          <a:bodyPr wrap="square">
            <a:spAutoFit/>
          </a:bodyPr>
          <a:lstStyle/>
          <a:p>
            <a:pPr>
              <a:spcAft>
                <a:spcPts val="1400"/>
              </a:spcAft>
              <a:defRPr sz="2400" b="0">
                <a:solidFill>
                  <a:srgbClr val="192A3E"/>
                </a:solidFill>
              </a:defRPr>
            </a:pPr>
            <a:r>
              <a:t>Harbor requests renewal when eight seconds remain on a thirty-second lease. A renewal response carries a new expiry and the same generation unless ownership changes. Failed renewal does not extend the old expiry.</a:t>
            </a:r>
          </a:p>
        </p:txBody>
      </p:sp>
      <p:sp>
        <p:nvSpPr>
          <p:cNvPr id="5" name="TextBox 4"/>
          <p:cNvSpPr txBox="1"/>
          <p:nvPr/>
        </p:nvSpPr>
        <p:spPr>
          <a:xfrm>
            <a:off x="548640" y="5715000"/>
            <a:ext cx="9875520" cy="228600"/>
          </a:xfrm>
          <a:prstGeom prst="rect">
            <a:avLst/>
          </a:prstGeom>
          <a:noFill/>
        </p:spPr>
        <p:txBody>
          <a:bodyPr wrap="square">
            <a:spAutoFit/>
          </a:bodyPr>
          <a:lstStyle/>
          <a:p>
            <a:pPr>
              <a:spcAft>
                <a:spcPts val="1400"/>
              </a:spcAft>
              <a:defRPr sz="1100" b="0">
                <a:solidFill>
                  <a:srgbClr val="596675"/>
                </a:solidFill>
              </a:defRPr>
            </a:pPr>
            <a:r>
              <a:t>Original synthetic teaching material • Week 4 • Slide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TextBox 1"/>
          <p:cNvSpPr txBox="1"/>
          <p:nvPr/>
        </p:nvSpPr>
        <p:spPr>
          <a:xfrm>
            <a:off x="502920" y="274320"/>
            <a:ext cx="10058400" cy="365760"/>
          </a:xfrm>
          <a:prstGeom prst="rect">
            <a:avLst/>
          </a:prstGeom>
          <a:noFill/>
        </p:spPr>
        <p:txBody>
          <a:bodyPr wrap="square">
            <a:spAutoFit/>
          </a:bodyPr>
          <a:lstStyle/>
          <a:p>
            <a:pPr>
              <a:spcAft>
                <a:spcPts val="1400"/>
              </a:spcAft>
              <a:defRPr sz="1300" b="1">
                <a:solidFill>
                  <a:srgbClr val="375B81"/>
                </a:solidFill>
              </a:defRPr>
            </a:pPr>
            <a:r>
              <a:t>HARBOR SYSTEMS 241  /  LEASES: REVOCABLE AUTHORITY</a:t>
            </a:r>
          </a:p>
        </p:txBody>
      </p:sp>
      <p:sp>
        <p:nvSpPr>
          <p:cNvPr id="3" name="TextBox 2"/>
          <p:cNvSpPr txBox="1"/>
          <p:nvPr/>
        </p:nvSpPr>
        <p:spPr>
          <a:xfrm>
            <a:off x="502920" y="914400"/>
            <a:ext cx="9966960" cy="914400"/>
          </a:xfrm>
          <a:prstGeom prst="rect">
            <a:avLst/>
          </a:prstGeom>
          <a:noFill/>
        </p:spPr>
        <p:txBody>
          <a:bodyPr wrap="square">
            <a:spAutoFit/>
          </a:bodyPr>
          <a:lstStyle/>
          <a:p>
            <a:pPr>
              <a:spcAft>
                <a:spcPts val="1400"/>
              </a:spcAft>
              <a:defRPr sz="3000" b="1">
                <a:solidFill>
                  <a:srgbClr val="192A3E"/>
                </a:solidFill>
              </a:defRPr>
            </a:pPr>
            <a:r>
              <a:t>A laboratory exception</a:t>
            </a:r>
          </a:p>
        </p:txBody>
      </p:sp>
      <p:sp>
        <p:nvSpPr>
          <p:cNvPr id="4" name="TextBox 3"/>
          <p:cNvSpPr txBox="1"/>
          <p:nvPr/>
        </p:nvSpPr>
        <p:spPr>
          <a:xfrm>
            <a:off x="548640" y="2148840"/>
            <a:ext cx="9738360" cy="3017520"/>
          </a:xfrm>
          <a:prstGeom prst="rect">
            <a:avLst/>
          </a:prstGeom>
          <a:noFill/>
        </p:spPr>
        <p:txBody>
          <a:bodyPr wrap="square">
            <a:spAutoFit/>
          </a:bodyPr>
          <a:lstStyle/>
          <a:p>
            <a:pPr>
              <a:spcAft>
                <a:spcPts val="1400"/>
              </a:spcAft>
              <a:defRPr sz="2400" b="0">
                <a:solidFill>
                  <a:srgbClr val="192A3E"/>
                </a:solidFill>
              </a:defRPr>
            </a:pPr>
            <a:r>
              <a:t>An isolated gateway can request a lantern lease for a supervised repair. The visible lease record still contains holder, generation and expiry. The instructor records the special renewal policy in the speaker notes.</a:t>
            </a:r>
          </a:p>
        </p:txBody>
      </p:sp>
      <p:sp>
        <p:nvSpPr>
          <p:cNvPr id="5" name="TextBox 4"/>
          <p:cNvSpPr txBox="1"/>
          <p:nvPr/>
        </p:nvSpPr>
        <p:spPr>
          <a:xfrm>
            <a:off x="548640" y="5715000"/>
            <a:ext cx="9875520" cy="228600"/>
          </a:xfrm>
          <a:prstGeom prst="rect">
            <a:avLst/>
          </a:prstGeom>
          <a:noFill/>
        </p:spPr>
        <p:txBody>
          <a:bodyPr wrap="square">
            <a:spAutoFit/>
          </a:bodyPr>
          <a:lstStyle/>
          <a:p>
            <a:pPr>
              <a:spcAft>
                <a:spcPts val="1400"/>
              </a:spcAft>
              <a:defRPr sz="1100" b="0">
                <a:solidFill>
                  <a:srgbClr val="596675"/>
                </a:solidFill>
              </a:defRPr>
            </a:pPr>
            <a:r>
              <a:t>Original synthetic teaching material • Week 4 • Slide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TextBox 1"/>
          <p:cNvSpPr txBox="1"/>
          <p:nvPr/>
        </p:nvSpPr>
        <p:spPr>
          <a:xfrm>
            <a:off x="502920" y="274320"/>
            <a:ext cx="10058400" cy="365760"/>
          </a:xfrm>
          <a:prstGeom prst="rect">
            <a:avLst/>
          </a:prstGeom>
          <a:noFill/>
        </p:spPr>
        <p:txBody>
          <a:bodyPr wrap="square">
            <a:spAutoFit/>
          </a:bodyPr>
          <a:lstStyle/>
          <a:p>
            <a:pPr>
              <a:spcAft>
                <a:spcPts val="1400"/>
              </a:spcAft>
              <a:defRPr sz="1300" b="1">
                <a:solidFill>
                  <a:srgbClr val="375B81"/>
                </a:solidFill>
              </a:defRPr>
            </a:pPr>
            <a:r>
              <a:t>HARBOR SYSTEMS 241  /  LEASES: REVOCABLE AUTHORITY</a:t>
            </a:r>
          </a:p>
        </p:txBody>
      </p:sp>
      <p:sp>
        <p:nvSpPr>
          <p:cNvPr id="3" name="TextBox 2"/>
          <p:cNvSpPr txBox="1"/>
          <p:nvPr/>
        </p:nvSpPr>
        <p:spPr>
          <a:xfrm>
            <a:off x="502920" y="914400"/>
            <a:ext cx="9966960" cy="914400"/>
          </a:xfrm>
          <a:prstGeom prst="rect">
            <a:avLst/>
          </a:prstGeom>
          <a:noFill/>
        </p:spPr>
        <p:txBody>
          <a:bodyPr wrap="square">
            <a:spAutoFit/>
          </a:bodyPr>
          <a:lstStyle/>
          <a:p>
            <a:pPr>
              <a:spcAft>
                <a:spcPts val="1400"/>
              </a:spcAft>
              <a:defRPr sz="3000" b="1">
                <a:solidFill>
                  <a:srgbClr val="192A3E"/>
                </a:solidFill>
              </a:defRPr>
            </a:pPr>
            <a:r>
              <a:t>Revocation and pending work</a:t>
            </a:r>
          </a:p>
        </p:txBody>
      </p:sp>
      <p:sp>
        <p:nvSpPr>
          <p:cNvPr id="4" name="TextBox 3"/>
          <p:cNvSpPr txBox="1"/>
          <p:nvPr/>
        </p:nvSpPr>
        <p:spPr>
          <a:xfrm>
            <a:off x="548640" y="2148840"/>
            <a:ext cx="9738360" cy="3017520"/>
          </a:xfrm>
          <a:prstGeom prst="rect">
            <a:avLst/>
          </a:prstGeom>
          <a:noFill/>
        </p:spPr>
        <p:txBody>
          <a:bodyPr wrap="square">
            <a:spAutoFit/>
          </a:bodyPr>
          <a:lstStyle/>
          <a:p>
            <a:pPr>
              <a:spcAft>
                <a:spcPts val="1400"/>
              </a:spcAft>
              <a:defRPr sz="2400" b="0">
                <a:solidFill>
                  <a:srgbClr val="192A3E"/>
                </a:solidFill>
              </a:defRPr>
            </a:pPr>
            <a:r>
              <a:t>On revocation, the gateway stops admitting writes and cancels work that has not crossed the commit boundary. Already committed observations retain their identifiers and remain visible.</a:t>
            </a:r>
          </a:p>
        </p:txBody>
      </p:sp>
      <p:sp>
        <p:nvSpPr>
          <p:cNvPr id="5" name="TextBox 4"/>
          <p:cNvSpPr txBox="1"/>
          <p:nvPr/>
        </p:nvSpPr>
        <p:spPr>
          <a:xfrm>
            <a:off x="548640" y="5715000"/>
            <a:ext cx="9875520" cy="228600"/>
          </a:xfrm>
          <a:prstGeom prst="rect">
            <a:avLst/>
          </a:prstGeom>
          <a:noFill/>
        </p:spPr>
        <p:txBody>
          <a:bodyPr wrap="square">
            <a:spAutoFit/>
          </a:bodyPr>
          <a:lstStyle/>
          <a:p>
            <a:pPr>
              <a:spcAft>
                <a:spcPts val="1400"/>
              </a:spcAft>
              <a:defRPr sz="1100" b="0">
                <a:solidFill>
                  <a:srgbClr val="596675"/>
                </a:solidFill>
              </a:defRPr>
            </a:pPr>
            <a:r>
              <a:t>Original synthetic teaching material • Week 4 • Slide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TextBox 1"/>
          <p:cNvSpPr txBox="1"/>
          <p:nvPr/>
        </p:nvSpPr>
        <p:spPr>
          <a:xfrm>
            <a:off x="502920" y="274320"/>
            <a:ext cx="10058400" cy="365760"/>
          </a:xfrm>
          <a:prstGeom prst="rect">
            <a:avLst/>
          </a:prstGeom>
          <a:noFill/>
        </p:spPr>
        <p:txBody>
          <a:bodyPr wrap="square">
            <a:spAutoFit/>
          </a:bodyPr>
          <a:lstStyle/>
          <a:p>
            <a:pPr>
              <a:spcAft>
                <a:spcPts val="1400"/>
              </a:spcAft>
              <a:defRPr sz="1300" b="1">
                <a:solidFill>
                  <a:srgbClr val="375B81"/>
                </a:solidFill>
              </a:defRPr>
            </a:pPr>
            <a:r>
              <a:t>HARBOR SYSTEMS 241  /  LEASES: REVOCABLE AUTHORITY</a:t>
            </a:r>
          </a:p>
        </p:txBody>
      </p:sp>
      <p:sp>
        <p:nvSpPr>
          <p:cNvPr id="3" name="TextBox 2"/>
          <p:cNvSpPr txBox="1"/>
          <p:nvPr/>
        </p:nvSpPr>
        <p:spPr>
          <a:xfrm>
            <a:off x="502920" y="914400"/>
            <a:ext cx="9966960" cy="914400"/>
          </a:xfrm>
          <a:prstGeom prst="rect">
            <a:avLst/>
          </a:prstGeom>
          <a:noFill/>
        </p:spPr>
        <p:txBody>
          <a:bodyPr wrap="square">
            <a:spAutoFit/>
          </a:bodyPr>
          <a:lstStyle/>
          <a:p>
            <a:pPr>
              <a:spcAft>
                <a:spcPts val="1400"/>
              </a:spcAft>
              <a:defRPr sz="3000" b="1">
                <a:solidFill>
                  <a:srgbClr val="192A3E"/>
                </a:solidFill>
              </a:defRPr>
            </a:pPr>
            <a:r>
              <a:t>Clock uncertainty</a:t>
            </a:r>
          </a:p>
        </p:txBody>
      </p:sp>
      <p:sp>
        <p:nvSpPr>
          <p:cNvPr id="4" name="TextBox 3"/>
          <p:cNvSpPr txBox="1"/>
          <p:nvPr/>
        </p:nvSpPr>
        <p:spPr>
          <a:xfrm>
            <a:off x="548640" y="2148840"/>
            <a:ext cx="9738360" cy="3017520"/>
          </a:xfrm>
          <a:prstGeom prst="rect">
            <a:avLst/>
          </a:prstGeom>
          <a:noFill/>
        </p:spPr>
        <p:txBody>
          <a:bodyPr wrap="square">
            <a:spAutoFit/>
          </a:bodyPr>
          <a:lstStyle/>
          <a:p>
            <a:pPr>
              <a:spcAft>
                <a:spcPts val="1400"/>
              </a:spcAft>
              <a:defRPr sz="2400" b="0">
                <a:solidFill>
                  <a:srgbClr val="192A3E"/>
                </a:solidFill>
              </a:defRPr>
            </a:pPr>
            <a:r>
              <a:t>A gateway subtracts a documented safety margin before treating a lease as usable. The archive independently checks fencing. These defenses cover different failures: local timing uncertainty and stale ownership.</a:t>
            </a:r>
          </a:p>
        </p:txBody>
      </p:sp>
      <p:sp>
        <p:nvSpPr>
          <p:cNvPr id="5" name="TextBox 4"/>
          <p:cNvSpPr txBox="1"/>
          <p:nvPr/>
        </p:nvSpPr>
        <p:spPr>
          <a:xfrm>
            <a:off x="548640" y="5715000"/>
            <a:ext cx="9875520" cy="228600"/>
          </a:xfrm>
          <a:prstGeom prst="rect">
            <a:avLst/>
          </a:prstGeom>
          <a:noFill/>
        </p:spPr>
        <p:txBody>
          <a:bodyPr wrap="square">
            <a:spAutoFit/>
          </a:bodyPr>
          <a:lstStyle/>
          <a:p>
            <a:pPr>
              <a:spcAft>
                <a:spcPts val="1400"/>
              </a:spcAft>
              <a:defRPr sz="1100" b="0">
                <a:solidFill>
                  <a:srgbClr val="596675"/>
                </a:solidFill>
              </a:defRPr>
            </a:pPr>
            <a:r>
              <a:t>Original synthetic teaching material • Week 4 • Slide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TextBox 1"/>
          <p:cNvSpPr txBox="1"/>
          <p:nvPr/>
        </p:nvSpPr>
        <p:spPr>
          <a:xfrm>
            <a:off x="502920" y="274320"/>
            <a:ext cx="10058400" cy="365760"/>
          </a:xfrm>
          <a:prstGeom prst="rect">
            <a:avLst/>
          </a:prstGeom>
          <a:noFill/>
        </p:spPr>
        <p:txBody>
          <a:bodyPr wrap="square">
            <a:spAutoFit/>
          </a:bodyPr>
          <a:lstStyle/>
          <a:p>
            <a:pPr>
              <a:spcAft>
                <a:spcPts val="1400"/>
              </a:spcAft>
              <a:defRPr sz="1300" b="1">
                <a:solidFill>
                  <a:srgbClr val="375B81"/>
                </a:solidFill>
              </a:defRPr>
            </a:pPr>
            <a:r>
              <a:t>HARBOR SYSTEMS 241  /  LEASES: REVOCABLE AUTHORITY</a:t>
            </a:r>
          </a:p>
        </p:txBody>
      </p:sp>
      <p:sp>
        <p:nvSpPr>
          <p:cNvPr id="3" name="TextBox 2"/>
          <p:cNvSpPr txBox="1"/>
          <p:nvPr/>
        </p:nvSpPr>
        <p:spPr>
          <a:xfrm>
            <a:off x="502920" y="914400"/>
            <a:ext cx="9966960" cy="914400"/>
          </a:xfrm>
          <a:prstGeom prst="rect">
            <a:avLst/>
          </a:prstGeom>
          <a:noFill/>
        </p:spPr>
        <p:txBody>
          <a:bodyPr wrap="square">
            <a:spAutoFit/>
          </a:bodyPr>
          <a:lstStyle/>
          <a:p>
            <a:pPr>
              <a:spcAft>
                <a:spcPts val="1400"/>
              </a:spcAft>
              <a:defRPr sz="3000" b="1">
                <a:solidFill>
                  <a:srgbClr val="192A3E"/>
                </a:solidFill>
              </a:defRPr>
            </a:pPr>
            <a:r>
              <a:t>Ownership transfer</a:t>
            </a:r>
          </a:p>
        </p:txBody>
      </p:sp>
      <p:sp>
        <p:nvSpPr>
          <p:cNvPr id="4" name="TextBox 3"/>
          <p:cNvSpPr txBox="1"/>
          <p:nvPr/>
        </p:nvSpPr>
        <p:spPr>
          <a:xfrm>
            <a:off x="548640" y="2148840"/>
            <a:ext cx="9738360" cy="3017520"/>
          </a:xfrm>
          <a:prstGeom prst="rect">
            <a:avLst/>
          </a:prstGeom>
          <a:noFill/>
        </p:spPr>
        <p:txBody>
          <a:bodyPr wrap="square">
            <a:spAutoFit/>
          </a:bodyPr>
          <a:lstStyle/>
          <a:p>
            <a:pPr>
              <a:spcAft>
                <a:spcPts val="1400"/>
              </a:spcAft>
              <a:defRPr sz="2400" b="0">
                <a:solidFill>
                  <a:srgbClr val="192A3E"/>
                </a:solidFill>
              </a:defRPr>
            </a:pPr>
            <a:r>
              <a:t>A transfer increments the generation before the new holder writes. The old holder may still have queued work, but the archive rejects it using the recorded generation. Transfer need not wait for the old process to wake up.</a:t>
            </a:r>
          </a:p>
        </p:txBody>
      </p:sp>
      <p:sp>
        <p:nvSpPr>
          <p:cNvPr id="5" name="TextBox 4"/>
          <p:cNvSpPr txBox="1"/>
          <p:nvPr/>
        </p:nvSpPr>
        <p:spPr>
          <a:xfrm>
            <a:off x="548640" y="5715000"/>
            <a:ext cx="9875520" cy="228600"/>
          </a:xfrm>
          <a:prstGeom prst="rect">
            <a:avLst/>
          </a:prstGeom>
          <a:noFill/>
        </p:spPr>
        <p:txBody>
          <a:bodyPr wrap="square">
            <a:spAutoFit/>
          </a:bodyPr>
          <a:lstStyle/>
          <a:p>
            <a:pPr>
              <a:spcAft>
                <a:spcPts val="1400"/>
              </a:spcAft>
              <a:defRPr sz="1100" b="0">
                <a:solidFill>
                  <a:srgbClr val="596675"/>
                </a:solidFill>
              </a:defRPr>
            </a:pPr>
            <a:r>
              <a:t>Original synthetic teaching material • Week 4 • Slide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TextBox 1"/>
          <p:cNvSpPr txBox="1"/>
          <p:nvPr/>
        </p:nvSpPr>
        <p:spPr>
          <a:xfrm>
            <a:off x="502920" y="274320"/>
            <a:ext cx="10058400" cy="365760"/>
          </a:xfrm>
          <a:prstGeom prst="rect">
            <a:avLst/>
          </a:prstGeom>
          <a:noFill/>
        </p:spPr>
        <p:txBody>
          <a:bodyPr wrap="square">
            <a:spAutoFit/>
          </a:bodyPr>
          <a:lstStyle/>
          <a:p>
            <a:pPr>
              <a:spcAft>
                <a:spcPts val="1400"/>
              </a:spcAft>
              <a:defRPr sz="1300" b="1">
                <a:solidFill>
                  <a:srgbClr val="375B81"/>
                </a:solidFill>
              </a:defRPr>
            </a:pPr>
            <a:r>
              <a:t>HARBOR SYSTEMS 241  /  LEASES: REVOCABLE AUTHORITY</a:t>
            </a:r>
          </a:p>
        </p:txBody>
      </p:sp>
      <p:sp>
        <p:nvSpPr>
          <p:cNvPr id="3" name="TextBox 2"/>
          <p:cNvSpPr txBox="1"/>
          <p:nvPr/>
        </p:nvSpPr>
        <p:spPr>
          <a:xfrm>
            <a:off x="502920" y="914400"/>
            <a:ext cx="9966960" cy="914400"/>
          </a:xfrm>
          <a:prstGeom prst="rect">
            <a:avLst/>
          </a:prstGeom>
          <a:noFill/>
        </p:spPr>
        <p:txBody>
          <a:bodyPr wrap="square">
            <a:spAutoFit/>
          </a:bodyPr>
          <a:lstStyle/>
          <a:p>
            <a:pPr>
              <a:spcAft>
                <a:spcPts val="1400"/>
              </a:spcAft>
              <a:defRPr sz="3000" b="1">
                <a:solidFill>
                  <a:srgbClr val="192A3E"/>
                </a:solidFill>
              </a:defRPr>
            </a:pPr>
            <a:r>
              <a:t>Lease audit trail</a:t>
            </a:r>
          </a:p>
        </p:txBody>
      </p:sp>
      <p:sp>
        <p:nvSpPr>
          <p:cNvPr id="4" name="TextBox 3"/>
          <p:cNvSpPr txBox="1"/>
          <p:nvPr/>
        </p:nvSpPr>
        <p:spPr>
          <a:xfrm>
            <a:off x="548640" y="2148840"/>
            <a:ext cx="9738360" cy="3017520"/>
          </a:xfrm>
          <a:prstGeom prst="rect">
            <a:avLst/>
          </a:prstGeom>
          <a:noFill/>
        </p:spPr>
        <p:txBody>
          <a:bodyPr wrap="square">
            <a:spAutoFit/>
          </a:bodyPr>
          <a:lstStyle/>
          <a:p>
            <a:pPr>
              <a:spcAft>
                <a:spcPts val="1400"/>
              </a:spcAft>
              <a:defRPr sz="2400" b="0">
                <a:solidFill>
                  <a:srgbClr val="192A3E"/>
                </a:solidFill>
              </a:defRPr>
            </a:pPr>
            <a:r>
              <a:t>Record grant, renewal, revocation and rejection with partition and generation. An audit trail should allow an engineer to distinguish an expired lease from a stale generation. Do not log reusable credentials.</a:t>
            </a:r>
          </a:p>
        </p:txBody>
      </p:sp>
      <p:sp>
        <p:nvSpPr>
          <p:cNvPr id="5" name="TextBox 4"/>
          <p:cNvSpPr txBox="1"/>
          <p:nvPr/>
        </p:nvSpPr>
        <p:spPr>
          <a:xfrm>
            <a:off x="548640" y="5715000"/>
            <a:ext cx="9875520" cy="228600"/>
          </a:xfrm>
          <a:prstGeom prst="rect">
            <a:avLst/>
          </a:prstGeom>
          <a:noFill/>
        </p:spPr>
        <p:txBody>
          <a:bodyPr wrap="square">
            <a:spAutoFit/>
          </a:bodyPr>
          <a:lstStyle/>
          <a:p>
            <a:pPr>
              <a:spcAft>
                <a:spcPts val="1400"/>
              </a:spcAft>
              <a:defRPr sz="1100" b="0">
                <a:solidFill>
                  <a:srgbClr val="596675"/>
                </a:solidFill>
              </a:defRPr>
            </a:pPr>
            <a:r>
              <a:t>Original synthetic teaching material • Week 4 • Slide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Leases: revocable authority</dc:title>
  <dc:subject>Original fictional CS course: Harbor Systems 241</dc:subject>
  <dc:creator>Independent synthetic course QA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